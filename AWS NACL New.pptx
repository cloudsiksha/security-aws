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5" r:id="rId4"/>
  </p:sldMasterIdLst>
  <p:notesMasterIdLst>
    <p:notesMasterId r:id="rId14"/>
  </p:notesMasterIdLst>
  <p:handoutMasterIdLst>
    <p:handoutMasterId r:id="rId15"/>
  </p:handoutMasterIdLst>
  <p:sldIdLst>
    <p:sldId id="376" r:id="rId5"/>
    <p:sldId id="257" r:id="rId6"/>
    <p:sldId id="259" r:id="rId7"/>
    <p:sldId id="260" r:id="rId8"/>
    <p:sldId id="261" r:id="rId9"/>
    <p:sldId id="262" r:id="rId10"/>
    <p:sldId id="271" r:id="rId11"/>
    <p:sldId id="263" r:id="rId12"/>
    <p:sldId id="38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  <a:srgbClr val="2C4A52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howGuides="1">
      <p:cViewPr varScale="1">
        <p:scale>
          <a:sx n="70" d="100"/>
          <a:sy n="70" d="100"/>
        </p:scale>
        <p:origin x="1166" y="2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5" d="100"/>
          <a:sy n="65" d="100"/>
        </p:scale>
        <p:origin x="3082" y="3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299BE-0F96-4D8C-8AC3-AFAE1A841C66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692AC-01A2-4EFF-966B-504F28E82D7A}" type="datetimeFigureOut">
              <a:rPr lang="en-US" noProof="0" smtClean="0"/>
              <a:t>2/8/2026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8711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7FAC3601-9744-9840-0229-E000CCFBE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2131" y="-30007"/>
            <a:ext cx="6064493" cy="68798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119890" y="723440"/>
            <a:ext cx="4323426" cy="257905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28152" y="5248834"/>
            <a:ext cx="4323426" cy="1008925"/>
          </a:xfrm>
        </p:spPr>
        <p:txBody>
          <a:bodyPr lIns="91440" rIns="9144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cap="all" spc="1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19274" y="3373515"/>
            <a:ext cx="4323426" cy="1008926"/>
          </a:xfrm>
        </p:spPr>
        <p:txBody>
          <a:bodyPr lIns="91440" rIns="91440">
            <a:noAutofit/>
          </a:bodyPr>
          <a:lstStyle>
            <a:lvl1pPr marL="0" indent="0">
              <a:buNone/>
              <a:defRPr sz="6000" b="1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###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DF7228-F4CB-A1B9-79EA-63240531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559556" y="-10665"/>
            <a:ext cx="1930144" cy="687729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164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0206913-4198-C5BA-6B13-02095EAA2B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770BC68-C025-CE63-EEBA-5DC7ADC44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2F993316-5D9D-6B5D-B678-3E0B84A3C0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1C39372-CEC6-2265-7611-84F187C126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5E13D63F-D0AC-7CD2-770C-6AB09F1BA6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85BF73EF-490D-CA1C-DAD3-BACB141D09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B82C914D-7190-2AD0-228B-6DA1384376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DAE3299D-125C-8DBC-60F9-82920ADE34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B84261D4-8740-689B-A5CA-C6442BC13E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D4393D6-D866-E411-A222-2FE8B99C4D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94666BC0-682D-FE04-6EC3-AA81EA3F96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3709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15541" y="715654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05708" y="2431477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5708" y="3348617"/>
            <a:ext cx="2699066" cy="2569866"/>
          </a:xfrm>
        </p:spPr>
        <p:txBody>
          <a:bodyPr lIns="91440" tIns="0">
            <a:normAutofit/>
          </a:bodyPr>
          <a:lstStyle>
            <a:lvl1pPr marL="274320" indent="-274320">
              <a:spcAft>
                <a:spcPts val="600"/>
              </a:spcAft>
              <a:buFont typeface="Courier New" panose="02070309020205020404" pitchFamily="49" charset="0"/>
              <a:buChar char="o"/>
              <a:defRPr sz="14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6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F88AD-4B54-9DC5-D315-825BE9FCEE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2252076"/>
            <a:ext cx="5797550" cy="30517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955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(Sing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408820"/>
            <a:ext cx="8935507" cy="94946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D7E9A-1E17-C6A0-31A6-F6F620FF9E8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1986061"/>
            <a:ext cx="5797550" cy="401524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322" y="2252394"/>
            <a:ext cx="5797518" cy="2532966"/>
          </a:xfrm>
        </p:spPr>
        <p:txBody>
          <a:bodyPr lIns="91440" bIns="0" anchor="t">
            <a:normAutofit/>
          </a:bodyPr>
          <a:lstStyle>
            <a:lvl1pPr marL="0" indent="0">
              <a:spcBef>
                <a:spcPts val="600"/>
              </a:spcBef>
              <a:spcAft>
                <a:spcPts val="1800"/>
              </a:spcAft>
              <a:buNone/>
              <a:defRPr sz="1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38829F9-FA07-E84B-ED85-A3958046C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4430" y="5008931"/>
            <a:ext cx="3842918" cy="43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979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D27DC4C-0653-4DB5-ABFE-50764C59A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368" y="270880"/>
            <a:ext cx="11297264" cy="1524000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012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0CF8376-A762-054E-EA3C-FF9430AD9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099" y="286603"/>
            <a:ext cx="11373803" cy="1450757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7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sson Summar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9788" y="353962"/>
            <a:ext cx="4786877" cy="98322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99788" y="1517074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9788" y="2341261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BC9EC3-C68A-CC9E-C220-8D585A8B43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9789" y="2753247"/>
            <a:ext cx="3852296" cy="817345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E3FA6A1-74D7-3926-C0BF-FECA6C0B03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9788" y="3563285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487AC4B-B367-6BC8-2DCA-61A43B3264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9788" y="3982578"/>
            <a:ext cx="3860546" cy="529133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4E9A44E-6692-ACFA-4EB0-368490BF3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9788" y="4564818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B0B6725-F963-746B-381A-0F998539A0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99788" y="4975138"/>
            <a:ext cx="3860546" cy="852906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19208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33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372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760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819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226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D5142E-2E7B-1488-E5DB-290186766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82569" y="2242"/>
            <a:ext cx="6806909" cy="6862481"/>
            <a:chOff x="5382569" y="2242"/>
            <a:chExt cx="6806909" cy="686248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299C1B-36CA-1E4A-2BE2-A212B68067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40328" y="2242"/>
              <a:ext cx="6049150" cy="6862481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7875AA7-8584-C85D-D920-B6F361221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382569" y="5060315"/>
              <a:ext cx="927943" cy="180130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70326" y="1679216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9499" y="-2236"/>
            <a:ext cx="6814124" cy="687109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973394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0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96790"/>
              <a:gd name="connsiteX1" fmla="*/ 6814124 w 6814124"/>
              <a:gd name="connsiteY1" fmla="*/ 1 h 6896790"/>
              <a:gd name="connsiteX2" fmla="*/ 6063554 w 6814124"/>
              <a:gd name="connsiteY2" fmla="*/ 2775916 h 6896790"/>
              <a:gd name="connsiteX3" fmla="*/ 5827334 w 6814124"/>
              <a:gd name="connsiteY3" fmla="*/ 2962606 h 6896790"/>
              <a:gd name="connsiteX4" fmla="*/ 5728274 w 6814124"/>
              <a:gd name="connsiteY4" fmla="*/ 2692096 h 6896790"/>
              <a:gd name="connsiteX5" fmla="*/ 5953064 w 6814124"/>
              <a:gd name="connsiteY5" fmla="*/ 1846276 h 6896790"/>
              <a:gd name="connsiteX6" fmla="*/ 5846384 w 6814124"/>
              <a:gd name="connsiteY6" fmla="*/ 1571956 h 6896790"/>
              <a:gd name="connsiteX7" fmla="*/ 5629214 w 6814124"/>
              <a:gd name="connsiteY7" fmla="*/ 1770076 h 6896790"/>
              <a:gd name="connsiteX8" fmla="*/ 4867214 w 6814124"/>
              <a:gd name="connsiteY8" fmla="*/ 4688536 h 6896790"/>
              <a:gd name="connsiteX9" fmla="*/ 4966274 w 6814124"/>
              <a:gd name="connsiteY9" fmla="*/ 4905706 h 6896790"/>
              <a:gd name="connsiteX10" fmla="*/ 5187254 w 6814124"/>
              <a:gd name="connsiteY10" fmla="*/ 4757116 h 6896790"/>
              <a:gd name="connsiteX11" fmla="*/ 5431094 w 6814124"/>
              <a:gd name="connsiteY11" fmla="*/ 3842716 h 6896790"/>
              <a:gd name="connsiteX12" fmla="*/ 5659694 w 6814124"/>
              <a:gd name="connsiteY12" fmla="*/ 3713176 h 6896790"/>
              <a:gd name="connsiteX13" fmla="*/ 5758754 w 6814124"/>
              <a:gd name="connsiteY13" fmla="*/ 3926536 h 6896790"/>
              <a:gd name="connsiteX14" fmla="*/ 5002015 w 6814124"/>
              <a:gd name="connsiteY14" fmla="*/ 6887938 h 6896790"/>
              <a:gd name="connsiteX15" fmla="*/ 0 w 6814124"/>
              <a:gd name="connsiteY15" fmla="*/ 6896790 h 6896790"/>
              <a:gd name="connsiteX16" fmla="*/ 0 w 6814124"/>
              <a:gd name="connsiteY16" fmla="*/ 0 h 689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14124" h="6896790">
                <a:moveTo>
                  <a:pt x="0" y="0"/>
                </a:moveTo>
                <a:lnTo>
                  <a:pt x="6814124" y="1"/>
                </a:lnTo>
                <a:lnTo>
                  <a:pt x="6063554" y="2775916"/>
                </a:lnTo>
                <a:cubicBezTo>
                  <a:pt x="6030534" y="2883866"/>
                  <a:pt x="5993704" y="2976576"/>
                  <a:pt x="5827334" y="2962606"/>
                </a:cubicBezTo>
                <a:cubicBezTo>
                  <a:pt x="5641914" y="2845766"/>
                  <a:pt x="5734624" y="2747976"/>
                  <a:pt x="5728274" y="2692096"/>
                </a:cubicBezTo>
                <a:cubicBezTo>
                  <a:pt x="5818444" y="2355546"/>
                  <a:pt x="5878134" y="2121866"/>
                  <a:pt x="5953064" y="1846276"/>
                </a:cubicBezTo>
                <a:cubicBezTo>
                  <a:pt x="5994974" y="1687526"/>
                  <a:pt x="5969574" y="1615136"/>
                  <a:pt x="5846384" y="1571956"/>
                </a:cubicBezTo>
                <a:cubicBezTo>
                  <a:pt x="5711764" y="1563066"/>
                  <a:pt x="5672394" y="1597356"/>
                  <a:pt x="5629214" y="1770076"/>
                </a:cubicBezTo>
                <a:cubicBezTo>
                  <a:pt x="5644454" y="1858976"/>
                  <a:pt x="4851974" y="4599636"/>
                  <a:pt x="4867214" y="4688536"/>
                </a:cubicBezTo>
                <a:cubicBezTo>
                  <a:pt x="4832289" y="4824426"/>
                  <a:pt x="4898964" y="4880306"/>
                  <a:pt x="4966274" y="4905706"/>
                </a:cubicBezTo>
                <a:cubicBezTo>
                  <a:pt x="5075494" y="4904436"/>
                  <a:pt x="5132009" y="4917136"/>
                  <a:pt x="5187254" y="4757116"/>
                </a:cubicBezTo>
                <a:lnTo>
                  <a:pt x="5431094" y="3842716"/>
                </a:lnTo>
                <a:cubicBezTo>
                  <a:pt x="5455224" y="3756356"/>
                  <a:pt x="5528884" y="3692856"/>
                  <a:pt x="5659694" y="3713176"/>
                </a:cubicBezTo>
                <a:cubicBezTo>
                  <a:pt x="5803204" y="3791916"/>
                  <a:pt x="5756214" y="3882086"/>
                  <a:pt x="5758754" y="3926536"/>
                </a:cubicBezTo>
                <a:lnTo>
                  <a:pt x="5002015" y="6887938"/>
                </a:lnTo>
                <a:lnTo>
                  <a:pt x="0" y="689679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70326" y="3748958"/>
            <a:ext cx="4786878" cy="2258013"/>
          </a:xfrm>
        </p:spPr>
        <p:txBody>
          <a:bodyPr lIns="91440" tIns="0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None/>
              <a:defRPr sz="16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6274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D6302-7BAC-4823-B417-F7E0594E6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46EA7-34B8-41C1-BB23-8D9D58F1D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aramond" panose="02020404030301010803" pitchFamily="18" charset="0"/>
              </a:defRPr>
            </a:lvl1pPr>
            <a:lvl2pPr>
              <a:defRPr>
                <a:latin typeface="Rockwell" panose="02060603020205020403" pitchFamily="18" charset="0"/>
              </a:defRPr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633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6BCAC9C-7B8B-A7E5-574A-2C2D47365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051" y="6221324"/>
            <a:ext cx="6818262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44D41BF-45CF-B60E-08D3-A8C49332E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0596" y="622132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32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9" r:id="rId5"/>
    <p:sldLayoutId id="2147483746" r:id="rId6"/>
    <p:sldLayoutId id="2147483747" r:id="rId7"/>
    <p:sldLayoutId id="2147483748" r:id="rId8"/>
    <p:sldLayoutId id="2147483750" r:id="rId9"/>
    <p:sldLayoutId id="2147483756" r:id="rId10"/>
    <p:sldLayoutId id="2147483751" r:id="rId11"/>
    <p:sldLayoutId id="2147483752" r:id="rId12"/>
    <p:sldLayoutId id="2147483754" r:id="rId13"/>
    <p:sldLayoutId id="2147483755" r:id="rId14"/>
    <p:sldLayoutId id="2147483753" r:id="rId15"/>
    <p:sldLayoutId id="2147483757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7643F50D-950F-5A7E-722A-79E4F5D31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9890" y="723440"/>
            <a:ext cx="4323426" cy="2579052"/>
          </a:xfrm>
        </p:spPr>
        <p:txBody>
          <a:bodyPr>
            <a:normAutofit/>
          </a:bodyPr>
          <a:lstStyle/>
          <a:p>
            <a:r>
              <a:rPr lang="en-US" dirty="0"/>
              <a:t>NACL</a:t>
            </a:r>
          </a:p>
        </p:txBody>
      </p:sp>
      <p:sp>
        <p:nvSpPr>
          <p:cNvPr id="96" name="Subtitle 95">
            <a:extLst>
              <a:ext uri="{FF2B5EF4-FFF2-40B4-BE49-F238E27FC236}">
                <a16:creationId xmlns:a16="http://schemas.microsoft.com/office/drawing/2014/main" id="{1C5A4B6C-BAC7-A685-A9B1-2F354B128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8152" y="5248834"/>
            <a:ext cx="4323426" cy="1008925"/>
          </a:xfrm>
        </p:spPr>
        <p:txBody>
          <a:bodyPr/>
          <a:lstStyle/>
          <a:p>
            <a:r>
              <a:rPr lang="en-US" dirty="0"/>
              <a:t>Presentation by: </a:t>
            </a:r>
          </a:p>
          <a:p>
            <a:r>
              <a:rPr lang="en-US" dirty="0"/>
              <a:t>S.Suresh</a:t>
            </a:r>
          </a:p>
          <a:p>
            <a:r>
              <a:rPr lang="en-US" dirty="0" err="1"/>
              <a:t>CloudSIKSHA</a:t>
            </a:r>
            <a:endParaRPr lang="en-US" dirty="0"/>
          </a:p>
        </p:txBody>
      </p:sp>
      <p:pic>
        <p:nvPicPr>
          <p:cNvPr id="82" name="Picture Placeholder 81" descr="A person standing in a hallway with a computer">
            <a:extLst>
              <a:ext uri="{FF2B5EF4-FFF2-40B4-BE49-F238E27FC236}">
                <a16:creationId xmlns:a16="http://schemas.microsoft.com/office/drawing/2014/main" id="{146F06CC-0FBA-25FB-03E4-AEA27BB636B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742" r="1742"/>
          <a:stretch/>
        </p:blipFill>
        <p:spPr>
          <a:xfrm>
            <a:off x="0" y="-2235"/>
            <a:ext cx="5840730" cy="6862275"/>
          </a:xfrm>
        </p:spPr>
      </p:pic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2A924E96-9B1C-6D19-49F6-49CA70E655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19274" y="3373515"/>
            <a:ext cx="4323426" cy="1008926"/>
          </a:xfrm>
        </p:spPr>
        <p:txBody>
          <a:bodyPr/>
          <a:lstStyle/>
          <a:p>
            <a:r>
              <a:rPr lang="en-US" dirty="0"/>
              <a:t>201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D96C8D99-3232-849B-9CC8-6E4982208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507757" y="-11160"/>
            <a:ext cx="2553080" cy="6858841"/>
          </a:xfrm>
          <a:custGeom>
            <a:avLst/>
            <a:gdLst>
              <a:gd name="connsiteX0" fmla="*/ 2526446 w 2553080"/>
              <a:gd name="connsiteY0" fmla="*/ 0 h 6858841"/>
              <a:gd name="connsiteX1" fmla="*/ 1707127 w 2553080"/>
              <a:gd name="connsiteY1" fmla="*/ 3182290 h 6858841"/>
              <a:gd name="connsiteX2" fmla="*/ 1365955 w 2553080"/>
              <a:gd name="connsiteY2" fmla="*/ 4453431 h 6858841"/>
              <a:gd name="connsiteX3" fmla="*/ 1182052 w 2553080"/>
              <a:gd name="connsiteY3" fmla="*/ 4538343 h 6858841"/>
              <a:gd name="connsiteX4" fmla="*/ 1070442 w 2553080"/>
              <a:gd name="connsiteY4" fmla="*/ 4344440 h 6858841"/>
              <a:gd name="connsiteX5" fmla="*/ 1329175 w 2553080"/>
              <a:gd name="connsiteY5" fmla="*/ 3390133 h 6858841"/>
              <a:gd name="connsiteX6" fmla="*/ 1311418 w 2553080"/>
              <a:gd name="connsiteY6" fmla="*/ 3250726 h 6858841"/>
              <a:gd name="connsiteX7" fmla="*/ 1199808 w 2553080"/>
              <a:gd name="connsiteY7" fmla="*/ 3164547 h 6858841"/>
              <a:gd name="connsiteX8" fmla="*/ 975320 w 2553080"/>
              <a:gd name="connsiteY8" fmla="*/ 3293816 h 6858841"/>
              <a:gd name="connsiteX9" fmla="*/ 582148 w 2553080"/>
              <a:gd name="connsiteY9" fmla="*/ 4743652 h 6858841"/>
              <a:gd name="connsiteX10" fmla="*/ 5073 w 2553080"/>
              <a:gd name="connsiteY10" fmla="*/ 6842367 h 6858841"/>
              <a:gd name="connsiteX11" fmla="*/ 0 w 2553080"/>
              <a:gd name="connsiteY11" fmla="*/ 6858842 h 6858841"/>
              <a:gd name="connsiteX12" fmla="*/ 26634 w 2553080"/>
              <a:gd name="connsiteY12" fmla="*/ 6858842 h 6858841"/>
              <a:gd name="connsiteX13" fmla="*/ 607514 w 2553080"/>
              <a:gd name="connsiteY13" fmla="*/ 4751256 h 6858841"/>
              <a:gd name="connsiteX14" fmla="*/ 1000686 w 2553080"/>
              <a:gd name="connsiteY14" fmla="*/ 3301420 h 6858841"/>
              <a:gd name="connsiteX15" fmla="*/ 1194735 w 2553080"/>
              <a:gd name="connsiteY15" fmla="*/ 3189894 h 6858841"/>
              <a:gd name="connsiteX16" fmla="*/ 1289857 w 2553080"/>
              <a:gd name="connsiteY16" fmla="*/ 3263399 h 6858841"/>
              <a:gd name="connsiteX17" fmla="*/ 1305077 w 2553080"/>
              <a:gd name="connsiteY17" fmla="*/ 3383797 h 6858841"/>
              <a:gd name="connsiteX18" fmla="*/ 1046345 w 2553080"/>
              <a:gd name="connsiteY18" fmla="*/ 4338103 h 6858841"/>
              <a:gd name="connsiteX19" fmla="*/ 1175711 w 2553080"/>
              <a:gd name="connsiteY19" fmla="*/ 4562423 h 6858841"/>
              <a:gd name="connsiteX20" fmla="*/ 1390053 w 2553080"/>
              <a:gd name="connsiteY20" fmla="*/ 4462303 h 6858841"/>
              <a:gd name="connsiteX21" fmla="*/ 1390053 w 2553080"/>
              <a:gd name="connsiteY21" fmla="*/ 4461035 h 6858841"/>
              <a:gd name="connsiteX22" fmla="*/ 1731225 w 2553080"/>
              <a:gd name="connsiteY22" fmla="*/ 3188627 h 6858841"/>
              <a:gd name="connsiteX23" fmla="*/ 2553081 w 2553080"/>
              <a:gd name="connsiteY23" fmla="*/ 1267 h 6858841"/>
              <a:gd name="connsiteX24" fmla="*/ 2526446 w 2553080"/>
              <a:gd name="connsiteY24" fmla="*/ 0 h 6858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53080" h="6858841">
                <a:moveTo>
                  <a:pt x="2526446" y="0"/>
                </a:moveTo>
                <a:lnTo>
                  <a:pt x="1707127" y="3182290"/>
                </a:lnTo>
                <a:lnTo>
                  <a:pt x="1365955" y="4453431"/>
                </a:lnTo>
                <a:cubicBezTo>
                  <a:pt x="1332979" y="4523135"/>
                  <a:pt x="1255613" y="4558621"/>
                  <a:pt x="1182052" y="4538343"/>
                </a:cubicBezTo>
                <a:cubicBezTo>
                  <a:pt x="1098345" y="4515531"/>
                  <a:pt x="1047613" y="4428085"/>
                  <a:pt x="1070442" y="4344440"/>
                </a:cubicBezTo>
                <a:lnTo>
                  <a:pt x="1329175" y="3390133"/>
                </a:lnTo>
                <a:cubicBezTo>
                  <a:pt x="1341858" y="3343242"/>
                  <a:pt x="1335516" y="3293816"/>
                  <a:pt x="1311418" y="3250726"/>
                </a:cubicBezTo>
                <a:cubicBezTo>
                  <a:pt x="1287321" y="3207637"/>
                  <a:pt x="1248004" y="3177220"/>
                  <a:pt x="1199808" y="3164547"/>
                </a:cubicBezTo>
                <a:cubicBezTo>
                  <a:pt x="1102150" y="3137933"/>
                  <a:pt x="1000686" y="3196230"/>
                  <a:pt x="975320" y="3293816"/>
                </a:cubicBezTo>
                <a:lnTo>
                  <a:pt x="582148" y="4743652"/>
                </a:lnTo>
                <a:lnTo>
                  <a:pt x="5073" y="6842367"/>
                </a:lnTo>
                <a:cubicBezTo>
                  <a:pt x="5073" y="6842367"/>
                  <a:pt x="1268" y="6855040"/>
                  <a:pt x="0" y="6858842"/>
                </a:cubicBezTo>
                <a:lnTo>
                  <a:pt x="26634" y="6858842"/>
                </a:lnTo>
                <a:lnTo>
                  <a:pt x="607514" y="4751256"/>
                </a:lnTo>
                <a:lnTo>
                  <a:pt x="1000686" y="3301420"/>
                </a:lnTo>
                <a:cubicBezTo>
                  <a:pt x="1023515" y="3217775"/>
                  <a:pt x="1111028" y="3167082"/>
                  <a:pt x="1194735" y="3189894"/>
                </a:cubicBezTo>
                <a:cubicBezTo>
                  <a:pt x="1235321" y="3201300"/>
                  <a:pt x="1269565" y="3226647"/>
                  <a:pt x="1289857" y="3263399"/>
                </a:cubicBezTo>
                <a:cubicBezTo>
                  <a:pt x="1311418" y="3300152"/>
                  <a:pt x="1316492" y="3341975"/>
                  <a:pt x="1305077" y="3383797"/>
                </a:cubicBezTo>
                <a:lnTo>
                  <a:pt x="1046345" y="4338103"/>
                </a:lnTo>
                <a:cubicBezTo>
                  <a:pt x="1019710" y="4435689"/>
                  <a:pt x="1078052" y="4537076"/>
                  <a:pt x="1175711" y="4562423"/>
                </a:cubicBezTo>
                <a:cubicBezTo>
                  <a:pt x="1261955" y="4585235"/>
                  <a:pt x="1352004" y="4543413"/>
                  <a:pt x="1390053" y="4462303"/>
                </a:cubicBezTo>
                <a:lnTo>
                  <a:pt x="1390053" y="4461035"/>
                </a:lnTo>
                <a:lnTo>
                  <a:pt x="1731225" y="3188627"/>
                </a:lnTo>
                <a:lnTo>
                  <a:pt x="2553081" y="1267"/>
                </a:lnTo>
                <a:cubicBezTo>
                  <a:pt x="2544203" y="0"/>
                  <a:pt x="2535325" y="0"/>
                  <a:pt x="2526446" y="0"/>
                </a:cubicBezTo>
                <a:close/>
              </a:path>
            </a:pathLst>
          </a:custGeom>
          <a:solidFill>
            <a:schemeClr val="accent1"/>
          </a:solidFill>
          <a:ln w="91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979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Network Access Control List</a:t>
            </a:r>
          </a:p>
        </p:txBody>
      </p:sp>
      <p:pic>
        <p:nvPicPr>
          <p:cNvPr id="1026" name="Picture 2" descr="Traffic is controlled using security groups and network ACL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7" r="1" b="4616"/>
          <a:stretch/>
        </p:blipFill>
        <p:spPr bwMode="auto">
          <a:xfrm>
            <a:off x="5450769" y="640080"/>
            <a:ext cx="5621670" cy="5550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906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70326" y="1679216"/>
            <a:ext cx="4786877" cy="1518315"/>
          </a:xfrm>
        </p:spPr>
        <p:txBody>
          <a:bodyPr anchor="b">
            <a:normAutofit/>
          </a:bodyPr>
          <a:lstStyle/>
          <a:p>
            <a:r>
              <a:rPr lang="en-US" sz="5100"/>
              <a:t>Network ACL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1A727FC-FE08-4285-E86C-F11374327E2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3477" r="13477"/>
          <a:stretch>
            <a:fillRect/>
          </a:stretch>
        </p:blipFill>
        <p:spPr>
          <a:xfrm>
            <a:off x="-30163" y="-1588"/>
            <a:ext cx="6815138" cy="6870701"/>
          </a:xfrm>
        </p:spPr>
      </p:pic>
      <p:sp>
        <p:nvSpPr>
          <p:cNvPr id="3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6970326" y="3748958"/>
            <a:ext cx="4786878" cy="2258013"/>
          </a:xfrm>
        </p:spPr>
        <p:txBody>
          <a:bodyPr>
            <a:normAutofit/>
          </a:bodyPr>
          <a:lstStyle/>
          <a:p>
            <a:r>
              <a:rPr lang="en-US"/>
              <a:t>Acts as a firewall</a:t>
            </a:r>
          </a:p>
          <a:p>
            <a:r>
              <a:rPr lang="en-US"/>
              <a:t>Controls traffic in and out of subnets</a:t>
            </a:r>
          </a:p>
          <a:p>
            <a:r>
              <a:rPr lang="en-US"/>
              <a:t>Default Network ACL created when VPC is created</a:t>
            </a:r>
          </a:p>
          <a:p>
            <a:pPr lvl="1"/>
            <a:r>
              <a:rPr lang="en-US" sz="1600"/>
              <a:t>Attached to all subnets initially</a:t>
            </a:r>
          </a:p>
          <a:p>
            <a:pPr lvl="1"/>
            <a:r>
              <a:rPr lang="en-US" sz="1600"/>
              <a:t>Allows all traffic to flow in both directions</a:t>
            </a:r>
          </a:p>
          <a:p>
            <a:pPr lvl="1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226453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70326" y="1679216"/>
            <a:ext cx="4786877" cy="1518315"/>
          </a:xfrm>
        </p:spPr>
        <p:txBody>
          <a:bodyPr anchor="b">
            <a:normAutofit/>
          </a:bodyPr>
          <a:lstStyle/>
          <a:p>
            <a:r>
              <a:rPr lang="en-US" sz="5100"/>
              <a:t>Custom NACL</a:t>
            </a:r>
          </a:p>
        </p:txBody>
      </p:sp>
      <p:pic>
        <p:nvPicPr>
          <p:cNvPr id="5" name="Picture 4" descr="Light trails on a road at night">
            <a:extLst>
              <a:ext uri="{FF2B5EF4-FFF2-40B4-BE49-F238E27FC236}">
                <a16:creationId xmlns:a16="http://schemas.microsoft.com/office/drawing/2014/main" id="{ADAF9F99-F2C3-7093-DB02-5554040EEC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97" r="9206" b="-2"/>
          <a:stretch>
            <a:fillRect/>
          </a:stretch>
        </p:blipFill>
        <p:spPr>
          <a:xfrm>
            <a:off x="-29499" y="-2236"/>
            <a:ext cx="6814124" cy="687109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973394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0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96790"/>
              <a:gd name="connsiteX1" fmla="*/ 6814124 w 6814124"/>
              <a:gd name="connsiteY1" fmla="*/ 1 h 6896790"/>
              <a:gd name="connsiteX2" fmla="*/ 6063554 w 6814124"/>
              <a:gd name="connsiteY2" fmla="*/ 2775916 h 6896790"/>
              <a:gd name="connsiteX3" fmla="*/ 5827334 w 6814124"/>
              <a:gd name="connsiteY3" fmla="*/ 2962606 h 6896790"/>
              <a:gd name="connsiteX4" fmla="*/ 5728274 w 6814124"/>
              <a:gd name="connsiteY4" fmla="*/ 2692096 h 6896790"/>
              <a:gd name="connsiteX5" fmla="*/ 5953064 w 6814124"/>
              <a:gd name="connsiteY5" fmla="*/ 1846276 h 6896790"/>
              <a:gd name="connsiteX6" fmla="*/ 5846384 w 6814124"/>
              <a:gd name="connsiteY6" fmla="*/ 1571956 h 6896790"/>
              <a:gd name="connsiteX7" fmla="*/ 5629214 w 6814124"/>
              <a:gd name="connsiteY7" fmla="*/ 1770076 h 6896790"/>
              <a:gd name="connsiteX8" fmla="*/ 4867214 w 6814124"/>
              <a:gd name="connsiteY8" fmla="*/ 4688536 h 6896790"/>
              <a:gd name="connsiteX9" fmla="*/ 4966274 w 6814124"/>
              <a:gd name="connsiteY9" fmla="*/ 4905706 h 6896790"/>
              <a:gd name="connsiteX10" fmla="*/ 5187254 w 6814124"/>
              <a:gd name="connsiteY10" fmla="*/ 4757116 h 6896790"/>
              <a:gd name="connsiteX11" fmla="*/ 5431094 w 6814124"/>
              <a:gd name="connsiteY11" fmla="*/ 3842716 h 6896790"/>
              <a:gd name="connsiteX12" fmla="*/ 5659694 w 6814124"/>
              <a:gd name="connsiteY12" fmla="*/ 3713176 h 6896790"/>
              <a:gd name="connsiteX13" fmla="*/ 5758754 w 6814124"/>
              <a:gd name="connsiteY13" fmla="*/ 3926536 h 6896790"/>
              <a:gd name="connsiteX14" fmla="*/ 5002015 w 6814124"/>
              <a:gd name="connsiteY14" fmla="*/ 6887938 h 6896790"/>
              <a:gd name="connsiteX15" fmla="*/ 0 w 6814124"/>
              <a:gd name="connsiteY15" fmla="*/ 6896790 h 6896790"/>
              <a:gd name="connsiteX16" fmla="*/ 0 w 6814124"/>
              <a:gd name="connsiteY16" fmla="*/ 0 h 689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14124" h="6896790">
                <a:moveTo>
                  <a:pt x="0" y="0"/>
                </a:moveTo>
                <a:lnTo>
                  <a:pt x="6814124" y="1"/>
                </a:lnTo>
                <a:lnTo>
                  <a:pt x="6063554" y="2775916"/>
                </a:lnTo>
                <a:cubicBezTo>
                  <a:pt x="6030534" y="2883866"/>
                  <a:pt x="5993704" y="2976576"/>
                  <a:pt x="5827334" y="2962606"/>
                </a:cubicBezTo>
                <a:cubicBezTo>
                  <a:pt x="5641914" y="2845766"/>
                  <a:pt x="5734624" y="2747976"/>
                  <a:pt x="5728274" y="2692096"/>
                </a:cubicBezTo>
                <a:cubicBezTo>
                  <a:pt x="5818444" y="2355546"/>
                  <a:pt x="5878134" y="2121866"/>
                  <a:pt x="5953064" y="1846276"/>
                </a:cubicBezTo>
                <a:cubicBezTo>
                  <a:pt x="5994974" y="1687526"/>
                  <a:pt x="5969574" y="1615136"/>
                  <a:pt x="5846384" y="1571956"/>
                </a:cubicBezTo>
                <a:cubicBezTo>
                  <a:pt x="5711764" y="1563066"/>
                  <a:pt x="5672394" y="1597356"/>
                  <a:pt x="5629214" y="1770076"/>
                </a:cubicBezTo>
                <a:cubicBezTo>
                  <a:pt x="5644454" y="1858976"/>
                  <a:pt x="4851974" y="4599636"/>
                  <a:pt x="4867214" y="4688536"/>
                </a:cubicBezTo>
                <a:cubicBezTo>
                  <a:pt x="4832289" y="4824426"/>
                  <a:pt x="4898964" y="4880306"/>
                  <a:pt x="4966274" y="4905706"/>
                </a:cubicBezTo>
                <a:cubicBezTo>
                  <a:pt x="5075494" y="4904436"/>
                  <a:pt x="5132009" y="4917136"/>
                  <a:pt x="5187254" y="4757116"/>
                </a:cubicBezTo>
                <a:lnTo>
                  <a:pt x="5431094" y="3842716"/>
                </a:lnTo>
                <a:cubicBezTo>
                  <a:pt x="5455224" y="3756356"/>
                  <a:pt x="5528884" y="3692856"/>
                  <a:pt x="5659694" y="3713176"/>
                </a:cubicBezTo>
                <a:cubicBezTo>
                  <a:pt x="5803204" y="3791916"/>
                  <a:pt x="5756214" y="3882086"/>
                  <a:pt x="5758754" y="3926536"/>
                </a:cubicBezTo>
                <a:lnTo>
                  <a:pt x="5002015" y="6887938"/>
                </a:lnTo>
                <a:lnTo>
                  <a:pt x="0" y="689679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6970326" y="3748958"/>
            <a:ext cx="4786878" cy="225801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/>
              <a:t>Custom NACL can be attached to any subnet </a:t>
            </a:r>
          </a:p>
          <a:p>
            <a:pPr lvl="1">
              <a:lnSpc>
                <a:spcPct val="90000"/>
              </a:lnSpc>
            </a:pPr>
            <a:r>
              <a:rPr lang="en-US" sz="1500"/>
              <a:t>Default custom NACL will block all traffic</a:t>
            </a:r>
          </a:p>
          <a:p>
            <a:pPr lvl="1">
              <a:lnSpc>
                <a:spcPct val="90000"/>
              </a:lnSpc>
            </a:pPr>
            <a:r>
              <a:rPr lang="en-US" sz="1500"/>
              <a:t>Need to put in rules to allow traffic </a:t>
            </a:r>
          </a:p>
          <a:p>
            <a:pPr>
              <a:lnSpc>
                <a:spcPct val="90000"/>
              </a:lnSpc>
            </a:pPr>
            <a:r>
              <a:rPr lang="en-US" sz="1500"/>
              <a:t>Each subnet will be associated with one NACL</a:t>
            </a:r>
          </a:p>
          <a:p>
            <a:pPr lvl="1">
              <a:lnSpc>
                <a:spcPct val="90000"/>
              </a:lnSpc>
            </a:pPr>
            <a:r>
              <a:rPr lang="en-US" sz="1500"/>
              <a:t>If no custom NACL specified will be associated with default NACL</a:t>
            </a:r>
          </a:p>
          <a:p>
            <a:pPr>
              <a:lnSpc>
                <a:spcPct val="90000"/>
              </a:lnSpc>
            </a:pPr>
            <a:r>
              <a:rPr lang="en-US" sz="1500"/>
              <a:t>One subnet one NACL</a:t>
            </a:r>
          </a:p>
          <a:p>
            <a:pPr lvl="1">
              <a:lnSpc>
                <a:spcPct val="90000"/>
              </a:lnSpc>
            </a:pPr>
            <a:r>
              <a:rPr lang="en-US" sz="1500"/>
              <a:t>One NACL can be associated with multiple subnets</a:t>
            </a:r>
          </a:p>
        </p:txBody>
      </p:sp>
    </p:spTree>
    <p:extLst>
      <p:ext uri="{BB962C8B-B14F-4D97-AF65-F5344CB8AC3E}">
        <p14:creationId xmlns:p14="http://schemas.microsoft.com/office/powerpoint/2010/main" val="153360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70326" y="1679216"/>
            <a:ext cx="4786877" cy="1518315"/>
          </a:xfrm>
        </p:spPr>
        <p:txBody>
          <a:bodyPr anchor="b">
            <a:normAutofit/>
          </a:bodyPr>
          <a:lstStyle/>
          <a:p>
            <a:r>
              <a:rPr lang="en-US"/>
              <a:t>NACL Rules</a:t>
            </a:r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3462F268-F97D-F286-102B-285C3DBDB6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04" r="-2" b="-2"/>
          <a:stretch>
            <a:fillRect/>
          </a:stretch>
        </p:blipFill>
        <p:spPr>
          <a:xfrm>
            <a:off x="-29499" y="-2236"/>
            <a:ext cx="6814124" cy="687109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973394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0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96790"/>
              <a:gd name="connsiteX1" fmla="*/ 6814124 w 6814124"/>
              <a:gd name="connsiteY1" fmla="*/ 1 h 6896790"/>
              <a:gd name="connsiteX2" fmla="*/ 6063554 w 6814124"/>
              <a:gd name="connsiteY2" fmla="*/ 2775916 h 6896790"/>
              <a:gd name="connsiteX3" fmla="*/ 5827334 w 6814124"/>
              <a:gd name="connsiteY3" fmla="*/ 2962606 h 6896790"/>
              <a:gd name="connsiteX4" fmla="*/ 5728274 w 6814124"/>
              <a:gd name="connsiteY4" fmla="*/ 2692096 h 6896790"/>
              <a:gd name="connsiteX5" fmla="*/ 5953064 w 6814124"/>
              <a:gd name="connsiteY5" fmla="*/ 1846276 h 6896790"/>
              <a:gd name="connsiteX6" fmla="*/ 5846384 w 6814124"/>
              <a:gd name="connsiteY6" fmla="*/ 1571956 h 6896790"/>
              <a:gd name="connsiteX7" fmla="*/ 5629214 w 6814124"/>
              <a:gd name="connsiteY7" fmla="*/ 1770076 h 6896790"/>
              <a:gd name="connsiteX8" fmla="*/ 4867214 w 6814124"/>
              <a:gd name="connsiteY8" fmla="*/ 4688536 h 6896790"/>
              <a:gd name="connsiteX9" fmla="*/ 4966274 w 6814124"/>
              <a:gd name="connsiteY9" fmla="*/ 4905706 h 6896790"/>
              <a:gd name="connsiteX10" fmla="*/ 5187254 w 6814124"/>
              <a:gd name="connsiteY10" fmla="*/ 4757116 h 6896790"/>
              <a:gd name="connsiteX11" fmla="*/ 5431094 w 6814124"/>
              <a:gd name="connsiteY11" fmla="*/ 3842716 h 6896790"/>
              <a:gd name="connsiteX12" fmla="*/ 5659694 w 6814124"/>
              <a:gd name="connsiteY12" fmla="*/ 3713176 h 6896790"/>
              <a:gd name="connsiteX13" fmla="*/ 5758754 w 6814124"/>
              <a:gd name="connsiteY13" fmla="*/ 3926536 h 6896790"/>
              <a:gd name="connsiteX14" fmla="*/ 5002015 w 6814124"/>
              <a:gd name="connsiteY14" fmla="*/ 6887938 h 6896790"/>
              <a:gd name="connsiteX15" fmla="*/ 0 w 6814124"/>
              <a:gd name="connsiteY15" fmla="*/ 6896790 h 6896790"/>
              <a:gd name="connsiteX16" fmla="*/ 0 w 6814124"/>
              <a:gd name="connsiteY16" fmla="*/ 0 h 689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14124" h="6896790">
                <a:moveTo>
                  <a:pt x="0" y="0"/>
                </a:moveTo>
                <a:lnTo>
                  <a:pt x="6814124" y="1"/>
                </a:lnTo>
                <a:lnTo>
                  <a:pt x="6063554" y="2775916"/>
                </a:lnTo>
                <a:cubicBezTo>
                  <a:pt x="6030534" y="2883866"/>
                  <a:pt x="5993704" y="2976576"/>
                  <a:pt x="5827334" y="2962606"/>
                </a:cubicBezTo>
                <a:cubicBezTo>
                  <a:pt x="5641914" y="2845766"/>
                  <a:pt x="5734624" y="2747976"/>
                  <a:pt x="5728274" y="2692096"/>
                </a:cubicBezTo>
                <a:cubicBezTo>
                  <a:pt x="5818444" y="2355546"/>
                  <a:pt x="5878134" y="2121866"/>
                  <a:pt x="5953064" y="1846276"/>
                </a:cubicBezTo>
                <a:cubicBezTo>
                  <a:pt x="5994974" y="1687526"/>
                  <a:pt x="5969574" y="1615136"/>
                  <a:pt x="5846384" y="1571956"/>
                </a:cubicBezTo>
                <a:cubicBezTo>
                  <a:pt x="5711764" y="1563066"/>
                  <a:pt x="5672394" y="1597356"/>
                  <a:pt x="5629214" y="1770076"/>
                </a:cubicBezTo>
                <a:cubicBezTo>
                  <a:pt x="5644454" y="1858976"/>
                  <a:pt x="4851974" y="4599636"/>
                  <a:pt x="4867214" y="4688536"/>
                </a:cubicBezTo>
                <a:cubicBezTo>
                  <a:pt x="4832289" y="4824426"/>
                  <a:pt x="4898964" y="4880306"/>
                  <a:pt x="4966274" y="4905706"/>
                </a:cubicBezTo>
                <a:cubicBezTo>
                  <a:pt x="5075494" y="4904436"/>
                  <a:pt x="5132009" y="4917136"/>
                  <a:pt x="5187254" y="4757116"/>
                </a:cubicBezTo>
                <a:lnTo>
                  <a:pt x="5431094" y="3842716"/>
                </a:lnTo>
                <a:cubicBezTo>
                  <a:pt x="5455224" y="3756356"/>
                  <a:pt x="5528884" y="3692856"/>
                  <a:pt x="5659694" y="3713176"/>
                </a:cubicBezTo>
                <a:cubicBezTo>
                  <a:pt x="5803204" y="3791916"/>
                  <a:pt x="5756214" y="3882086"/>
                  <a:pt x="5758754" y="3926536"/>
                </a:cubicBezTo>
                <a:lnTo>
                  <a:pt x="5002015" y="6887938"/>
                </a:lnTo>
                <a:lnTo>
                  <a:pt x="0" y="689679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6970326" y="3748958"/>
            <a:ext cx="4786878" cy="225801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Each rule has a number</a:t>
            </a:r>
          </a:p>
          <a:p>
            <a:pPr>
              <a:lnSpc>
                <a:spcPct val="90000"/>
              </a:lnSpc>
            </a:pPr>
            <a:r>
              <a:rPr lang="en-US"/>
              <a:t>Evaluated from lowest number to highest</a:t>
            </a:r>
          </a:p>
          <a:p>
            <a:pPr lvl="1">
              <a:lnSpc>
                <a:spcPct val="90000"/>
              </a:lnSpc>
            </a:pPr>
            <a:r>
              <a:rPr lang="en-US" sz="1600"/>
              <a:t>32766 is the highest number that can be used</a:t>
            </a:r>
          </a:p>
          <a:p>
            <a:pPr>
              <a:lnSpc>
                <a:spcPct val="90000"/>
              </a:lnSpc>
            </a:pPr>
            <a:r>
              <a:rPr lang="en-US"/>
              <a:t>Evaluation stops when a rule is satisfied</a:t>
            </a:r>
          </a:p>
          <a:p>
            <a:pPr lvl="1">
              <a:lnSpc>
                <a:spcPct val="90000"/>
              </a:lnSpc>
            </a:pPr>
            <a:r>
              <a:rPr lang="en-US" sz="1600"/>
              <a:t>Need to careful when writing rules else there could unintended consequences</a:t>
            </a:r>
          </a:p>
          <a:p>
            <a:pPr>
              <a:lnSpc>
                <a:spcPct val="90000"/>
              </a:lnSpc>
            </a:pPr>
            <a:r>
              <a:rPr lang="en-US"/>
              <a:t>Inbound and Outbound rules</a:t>
            </a:r>
          </a:p>
          <a:p>
            <a:pPr>
              <a:lnSpc>
                <a:spcPct val="90000"/>
              </a:lnSpc>
            </a:pPr>
            <a:r>
              <a:rPr lang="en-US"/>
              <a:t>NACL is stateless</a:t>
            </a:r>
          </a:p>
          <a:p>
            <a:pPr marL="0" indent="0">
              <a:lnSpc>
                <a:spcPct val="90000"/>
              </a:lnSpc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2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latin typeface="+mj-lt"/>
                <a:ea typeface="+mj-ea"/>
                <a:cs typeface="+mj-cs"/>
              </a:rPr>
              <a:t>NACL Inbound Rules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648018" y="898839"/>
          <a:ext cx="6900514" cy="5020112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711370">
                  <a:extLst>
                    <a:ext uri="{9D8B030D-6E8A-4147-A177-3AD203B41FA5}">
                      <a16:colId xmlns:a16="http://schemas.microsoft.com/office/drawing/2014/main" val="3000277124"/>
                    </a:ext>
                  </a:extLst>
                </a:gridCol>
                <a:gridCol w="795806">
                  <a:extLst>
                    <a:ext uri="{9D8B030D-6E8A-4147-A177-3AD203B41FA5}">
                      <a16:colId xmlns:a16="http://schemas.microsoft.com/office/drawing/2014/main" val="1253388008"/>
                    </a:ext>
                  </a:extLst>
                </a:gridCol>
                <a:gridCol w="859133">
                  <a:extLst>
                    <a:ext uri="{9D8B030D-6E8A-4147-A177-3AD203B41FA5}">
                      <a16:colId xmlns:a16="http://schemas.microsoft.com/office/drawing/2014/main" val="4214319171"/>
                    </a:ext>
                  </a:extLst>
                </a:gridCol>
                <a:gridCol w="721924">
                  <a:extLst>
                    <a:ext uri="{9D8B030D-6E8A-4147-A177-3AD203B41FA5}">
                      <a16:colId xmlns:a16="http://schemas.microsoft.com/office/drawing/2014/main" val="2755515181"/>
                    </a:ext>
                  </a:extLst>
                </a:gridCol>
                <a:gridCol w="1112442">
                  <a:extLst>
                    <a:ext uri="{9D8B030D-6E8A-4147-A177-3AD203B41FA5}">
                      <a16:colId xmlns:a16="http://schemas.microsoft.com/office/drawing/2014/main" val="1875684544"/>
                    </a:ext>
                  </a:extLst>
                </a:gridCol>
                <a:gridCol w="1112442">
                  <a:extLst>
                    <a:ext uri="{9D8B030D-6E8A-4147-A177-3AD203B41FA5}">
                      <a16:colId xmlns:a16="http://schemas.microsoft.com/office/drawing/2014/main" val="1917399811"/>
                    </a:ext>
                  </a:extLst>
                </a:gridCol>
                <a:gridCol w="1587397">
                  <a:extLst>
                    <a:ext uri="{9D8B030D-6E8A-4147-A177-3AD203B41FA5}">
                      <a16:colId xmlns:a16="http://schemas.microsoft.com/office/drawing/2014/main" val="3751645577"/>
                    </a:ext>
                  </a:extLst>
                </a:gridCol>
              </a:tblGrid>
              <a:tr h="334360">
                <a:tc gridSpan="7"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Inbound Rules</a:t>
                      </a:r>
                    </a:p>
                  </a:txBody>
                  <a:tcPr marL="75984" marR="75984" marT="37992" marB="3799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459840"/>
                  </a:ext>
                </a:extLst>
              </a:tr>
              <a:tr h="5391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>
                          <a:solidFill>
                            <a:srgbClr val="C00000"/>
                          </a:solidFill>
                          <a:effectLst/>
                        </a:rPr>
                        <a:t>Rule #</a:t>
                      </a: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>
                          <a:solidFill>
                            <a:srgbClr val="C00000"/>
                          </a:solidFill>
                          <a:effectLst/>
                        </a:rPr>
                        <a:t>Type</a:t>
                      </a: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>
                          <a:solidFill>
                            <a:srgbClr val="C00000"/>
                          </a:solidFill>
                          <a:effectLst/>
                        </a:rPr>
                        <a:t>Protocol</a:t>
                      </a: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>
                          <a:solidFill>
                            <a:srgbClr val="C00000"/>
                          </a:solidFill>
                          <a:effectLst/>
                        </a:rPr>
                        <a:t>Port Range</a:t>
                      </a: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>
                          <a:solidFill>
                            <a:srgbClr val="C00000"/>
                          </a:solidFill>
                          <a:effectLst/>
                        </a:rPr>
                        <a:t>Source</a:t>
                      </a: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>
                          <a:solidFill>
                            <a:srgbClr val="C00000"/>
                          </a:solidFill>
                          <a:effectLst/>
                        </a:rPr>
                        <a:t>Allow/Deny</a:t>
                      </a: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>
                          <a:solidFill>
                            <a:srgbClr val="C00000"/>
                          </a:solidFill>
                          <a:effectLst/>
                        </a:rPr>
                        <a:t>Comments</a:t>
                      </a:r>
                    </a:p>
                  </a:txBody>
                  <a:tcPr marL="26383" marR="26383" marT="26383" marB="26383"/>
                </a:tc>
                <a:extLst>
                  <a:ext uri="{0D108BD9-81ED-4DB2-BD59-A6C34878D82A}">
                    <a16:rowId xmlns:a16="http://schemas.microsoft.com/office/drawing/2014/main" val="3182480303"/>
                  </a:ext>
                </a:extLst>
              </a:tr>
              <a:tr h="539120"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100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HTTP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TCP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80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0.0.0.0/0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Allow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Allow all traffic to this subnet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extLst>
                  <a:ext uri="{0D108BD9-81ED-4DB2-BD59-A6C34878D82A}">
                    <a16:rowId xmlns:a16="http://schemas.microsoft.com/office/drawing/2014/main" val="2831341437"/>
                  </a:ext>
                </a:extLst>
              </a:tr>
              <a:tr h="767098"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200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MySQL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TCP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3306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10.0.1.0/24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Deny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Deny traffic from 10.0.1.0/24 subnet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extLst>
                  <a:ext uri="{0D108BD9-81ED-4DB2-BD59-A6C34878D82A}">
                    <a16:rowId xmlns:a16="http://schemas.microsoft.com/office/drawing/2014/main" val="3156070153"/>
                  </a:ext>
                </a:extLst>
              </a:tr>
              <a:tr h="539120"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300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MySQL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TCP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3306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0.0.0.0/0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Allow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Allow MySQL traffic 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extLst>
                  <a:ext uri="{0D108BD9-81ED-4DB2-BD59-A6C34878D82A}">
                    <a16:rowId xmlns:a16="http://schemas.microsoft.com/office/drawing/2014/main" val="1699844271"/>
                  </a:ext>
                </a:extLst>
              </a:tr>
              <a:tr h="995076"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400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SSH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TCP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22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10.0.2.0/24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Deny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Explicitly Deny  SSH traffic from 10.0.2.0/24 subnet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extLst>
                  <a:ext uri="{0D108BD9-81ED-4DB2-BD59-A6C34878D82A}">
                    <a16:rowId xmlns:a16="http://schemas.microsoft.com/office/drawing/2014/main" val="384851922"/>
                  </a:ext>
                </a:extLst>
              </a:tr>
              <a:tr h="539120"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500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SSH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TCP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22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0.0.0.0/0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Allow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Allow all SSH traffic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extLst>
                  <a:ext uri="{0D108BD9-81ED-4DB2-BD59-A6C34878D82A}">
                    <a16:rowId xmlns:a16="http://schemas.microsoft.com/office/drawing/2014/main" val="3535278385"/>
                  </a:ext>
                </a:extLst>
              </a:tr>
              <a:tr h="767098"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*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All Traffic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All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All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0.0.0.0/0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Deny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Default  rule present in all NACL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383" marR="26383" marT="26383" marB="26383"/>
                </a:tc>
                <a:extLst>
                  <a:ext uri="{0D108BD9-81ED-4DB2-BD59-A6C34878D82A}">
                    <a16:rowId xmlns:a16="http://schemas.microsoft.com/office/drawing/2014/main" val="2188813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1210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latin typeface="+mj-lt"/>
                <a:ea typeface="+mj-ea"/>
                <a:cs typeface="+mj-cs"/>
              </a:rPr>
              <a:t>NACL Outbound Rules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648018" y="1185826"/>
          <a:ext cx="6900516" cy="4650104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706613">
                  <a:extLst>
                    <a:ext uri="{9D8B030D-6E8A-4147-A177-3AD203B41FA5}">
                      <a16:colId xmlns:a16="http://schemas.microsoft.com/office/drawing/2014/main" val="3000277124"/>
                    </a:ext>
                  </a:extLst>
                </a:gridCol>
                <a:gridCol w="810972">
                  <a:extLst>
                    <a:ext uri="{9D8B030D-6E8A-4147-A177-3AD203B41FA5}">
                      <a16:colId xmlns:a16="http://schemas.microsoft.com/office/drawing/2014/main" val="1253388008"/>
                    </a:ext>
                  </a:extLst>
                </a:gridCol>
                <a:gridCol w="853211">
                  <a:extLst>
                    <a:ext uri="{9D8B030D-6E8A-4147-A177-3AD203B41FA5}">
                      <a16:colId xmlns:a16="http://schemas.microsoft.com/office/drawing/2014/main" val="4214319171"/>
                    </a:ext>
                  </a:extLst>
                </a:gridCol>
                <a:gridCol w="717795">
                  <a:extLst>
                    <a:ext uri="{9D8B030D-6E8A-4147-A177-3AD203B41FA5}">
                      <a16:colId xmlns:a16="http://schemas.microsoft.com/office/drawing/2014/main" val="2755515181"/>
                    </a:ext>
                  </a:extLst>
                </a:gridCol>
                <a:gridCol w="1106651">
                  <a:extLst>
                    <a:ext uri="{9D8B030D-6E8A-4147-A177-3AD203B41FA5}">
                      <a16:colId xmlns:a16="http://schemas.microsoft.com/office/drawing/2014/main" val="1875684544"/>
                    </a:ext>
                  </a:extLst>
                </a:gridCol>
                <a:gridCol w="1105409">
                  <a:extLst>
                    <a:ext uri="{9D8B030D-6E8A-4147-A177-3AD203B41FA5}">
                      <a16:colId xmlns:a16="http://schemas.microsoft.com/office/drawing/2014/main" val="1917399811"/>
                    </a:ext>
                  </a:extLst>
                </a:gridCol>
                <a:gridCol w="1599865">
                  <a:extLst>
                    <a:ext uri="{9D8B030D-6E8A-4147-A177-3AD203B41FA5}">
                      <a16:colId xmlns:a16="http://schemas.microsoft.com/office/drawing/2014/main" val="3751645577"/>
                    </a:ext>
                  </a:extLst>
                </a:gridCol>
              </a:tblGrid>
              <a:tr h="331386">
                <a:tc gridSpan="7"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C00000"/>
                          </a:solidFill>
                        </a:rPr>
                        <a:t>Outbound Rules</a:t>
                      </a:r>
                    </a:p>
                  </a:txBody>
                  <a:tcPr marL="76156" marR="76156" marT="38078" marB="38078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459840"/>
                  </a:ext>
                </a:extLst>
              </a:tr>
              <a:tr h="5347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>
                          <a:solidFill>
                            <a:srgbClr val="C00000"/>
                          </a:solidFill>
                          <a:effectLst/>
                        </a:rPr>
                        <a:t>Rule #</a:t>
                      </a: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>
                          <a:solidFill>
                            <a:srgbClr val="C00000"/>
                          </a:solidFill>
                          <a:effectLst/>
                        </a:rPr>
                        <a:t>Type</a:t>
                      </a: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>
                          <a:solidFill>
                            <a:srgbClr val="C00000"/>
                          </a:solidFill>
                          <a:effectLst/>
                        </a:rPr>
                        <a:t>Protocol</a:t>
                      </a: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>
                          <a:solidFill>
                            <a:srgbClr val="C00000"/>
                          </a:solidFill>
                          <a:effectLst/>
                        </a:rPr>
                        <a:t>Port Range</a:t>
                      </a: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>
                          <a:solidFill>
                            <a:srgbClr val="C00000"/>
                          </a:solidFill>
                          <a:effectLst/>
                        </a:rPr>
                        <a:t>Destination</a:t>
                      </a: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>
                          <a:solidFill>
                            <a:srgbClr val="C00000"/>
                          </a:solidFill>
                          <a:effectLst/>
                        </a:rPr>
                        <a:t>Allow/Deny</a:t>
                      </a: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>
                          <a:solidFill>
                            <a:srgbClr val="C00000"/>
                          </a:solidFill>
                          <a:effectLst/>
                        </a:rPr>
                        <a:t>Comments</a:t>
                      </a:r>
                    </a:p>
                  </a:txBody>
                  <a:tcPr marL="26444" marR="26444" marT="26444" marB="26444"/>
                </a:tc>
                <a:extLst>
                  <a:ext uri="{0D108BD9-81ED-4DB2-BD59-A6C34878D82A}">
                    <a16:rowId xmlns:a16="http://schemas.microsoft.com/office/drawing/2014/main" val="3182480303"/>
                  </a:ext>
                </a:extLst>
              </a:tr>
              <a:tr h="534722"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100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Custom TCP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TCP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1024-65535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0.0.0.0/0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Allow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Open all  higher ports for response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extLst>
                  <a:ext uri="{0D108BD9-81ED-4DB2-BD59-A6C34878D82A}">
                    <a16:rowId xmlns:a16="http://schemas.microsoft.com/office/drawing/2014/main" val="2831341437"/>
                  </a:ext>
                </a:extLst>
              </a:tr>
              <a:tr h="761327"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200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SSH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TCP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22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10.0.1.0/24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Allow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Allow SSH to 10.0.1.0/24 subnet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extLst>
                  <a:ext uri="{0D108BD9-81ED-4DB2-BD59-A6C34878D82A}">
                    <a16:rowId xmlns:a16="http://schemas.microsoft.com/office/drawing/2014/main" val="384851922"/>
                  </a:ext>
                </a:extLst>
              </a:tr>
              <a:tr h="987932"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300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RDP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TCP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3389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10.0.1.0/24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Deny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Explicitly deny all RDP traffic to 10.0.1.0/24 subnet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extLst>
                  <a:ext uri="{0D108BD9-81ED-4DB2-BD59-A6C34878D82A}">
                    <a16:rowId xmlns:a16="http://schemas.microsoft.com/office/drawing/2014/main" val="3535278385"/>
                  </a:ext>
                </a:extLst>
              </a:tr>
              <a:tr h="534722"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400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RDP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TCP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3389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0.0.0.0/0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Allow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Allow all RDP traffic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extLst>
                  <a:ext uri="{0D108BD9-81ED-4DB2-BD59-A6C34878D82A}">
                    <a16:rowId xmlns:a16="http://schemas.microsoft.com/office/drawing/2014/main" val="2188813991"/>
                  </a:ext>
                </a:extLst>
              </a:tr>
              <a:tr h="761327"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*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All Traffic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All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All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0.0.0.0/0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Deny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effectLst/>
                        </a:rPr>
                        <a:t>Default  rule present in all NACL</a:t>
                      </a:r>
                      <a:endParaRPr lang="en-US" sz="150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26444" marR="26444" marT="26444" marB="26444"/>
                </a:tc>
                <a:extLst>
                  <a:ext uri="{0D108BD9-81ED-4DB2-BD59-A6C34878D82A}">
                    <a16:rowId xmlns:a16="http://schemas.microsoft.com/office/drawing/2014/main" val="2932278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4578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latin typeface="+mj-lt"/>
                <a:ea typeface="+mj-ea"/>
                <a:cs typeface="+mj-cs"/>
              </a:rPr>
              <a:t>NACL vs Security Groups</a:t>
            </a:r>
          </a:p>
        </p:txBody>
      </p:sp>
      <p:graphicFrame>
        <p:nvGraphicFramePr>
          <p:cNvPr id="23" name="Content Placeholder 5"/>
          <p:cNvGraphicFramePr>
            <a:graphicFrameLocks noGrp="1"/>
          </p:cNvGraphicFramePr>
          <p:nvPr>
            <p:ph idx="1"/>
          </p:nvPr>
        </p:nvGraphicFramePr>
        <p:xfrm>
          <a:off x="4648018" y="860504"/>
          <a:ext cx="6900513" cy="50967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515361">
                  <a:extLst>
                    <a:ext uri="{9D8B030D-6E8A-4147-A177-3AD203B41FA5}">
                      <a16:colId xmlns:a16="http://schemas.microsoft.com/office/drawing/2014/main" val="1914600716"/>
                    </a:ext>
                  </a:extLst>
                </a:gridCol>
                <a:gridCol w="3385152">
                  <a:extLst>
                    <a:ext uri="{9D8B030D-6E8A-4147-A177-3AD203B41FA5}">
                      <a16:colId xmlns:a16="http://schemas.microsoft.com/office/drawing/2014/main" val="3256537073"/>
                    </a:ext>
                  </a:extLst>
                </a:gridCol>
              </a:tblGrid>
              <a:tr h="442056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rgbClr val="C00000"/>
                          </a:solidFill>
                        </a:rPr>
                        <a:t>Security Group</a:t>
                      </a:r>
                    </a:p>
                  </a:txBody>
                  <a:tcPr marL="103165" marR="103165" marT="51583" marB="515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rgbClr val="C00000"/>
                          </a:solidFill>
                        </a:rPr>
                        <a:t>NACL</a:t>
                      </a:r>
                    </a:p>
                  </a:txBody>
                  <a:tcPr marL="103165" marR="103165" marT="51583" marB="51583"/>
                </a:tc>
                <a:extLst>
                  <a:ext uri="{0D108BD9-81ED-4DB2-BD59-A6C34878D82A}">
                    <a16:rowId xmlns:a16="http://schemas.microsoft.com/office/drawing/2014/main" val="4282221202"/>
                  </a:ext>
                </a:extLst>
              </a:tr>
              <a:tr h="442056">
                <a:tc>
                  <a:txBody>
                    <a:bodyPr/>
                    <a:lstStyle/>
                    <a:p>
                      <a:r>
                        <a:rPr lang="en-US" sz="2000"/>
                        <a:t>Instance Level security</a:t>
                      </a:r>
                      <a:endParaRPr lang="en-US" sz="2000" b="1">
                        <a:solidFill>
                          <a:srgbClr val="FFFF00"/>
                        </a:solidFill>
                      </a:endParaRPr>
                    </a:p>
                  </a:txBody>
                  <a:tcPr marL="103165" marR="103165" marT="51583" marB="51583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Subnet Level Security</a:t>
                      </a:r>
                      <a:endParaRPr lang="en-US" sz="2000" b="1">
                        <a:solidFill>
                          <a:srgbClr val="FFFF00"/>
                        </a:solidFill>
                      </a:endParaRPr>
                    </a:p>
                  </a:txBody>
                  <a:tcPr marL="103165" marR="103165" marT="51583" marB="51583"/>
                </a:tc>
                <a:extLst>
                  <a:ext uri="{0D108BD9-81ED-4DB2-BD59-A6C34878D82A}">
                    <a16:rowId xmlns:a16="http://schemas.microsoft.com/office/drawing/2014/main" val="4271932611"/>
                  </a:ext>
                </a:extLst>
              </a:tr>
              <a:tr h="1053167">
                <a:tc>
                  <a:txBody>
                    <a:bodyPr/>
                    <a:lstStyle/>
                    <a:p>
                      <a:r>
                        <a:rPr lang="en-US" sz="2000"/>
                        <a:t>Stateful (Understands difference between request and response)</a:t>
                      </a:r>
                      <a:endParaRPr lang="en-US" sz="2000" b="1">
                        <a:solidFill>
                          <a:srgbClr val="FFFF00"/>
                        </a:solidFill>
                      </a:endParaRPr>
                    </a:p>
                  </a:txBody>
                  <a:tcPr marL="103165" marR="103165" marT="51583" marB="51583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Stateless (Inbound and Outbound rules must be specified)</a:t>
                      </a:r>
                      <a:endParaRPr lang="en-US" sz="2000" b="1">
                        <a:solidFill>
                          <a:srgbClr val="FFFF00"/>
                        </a:solidFill>
                      </a:endParaRPr>
                    </a:p>
                  </a:txBody>
                  <a:tcPr marL="103165" marR="103165" marT="51583" marB="51583"/>
                </a:tc>
                <a:extLst>
                  <a:ext uri="{0D108BD9-81ED-4DB2-BD59-A6C34878D82A}">
                    <a16:rowId xmlns:a16="http://schemas.microsoft.com/office/drawing/2014/main" val="2171301826"/>
                  </a:ext>
                </a:extLst>
              </a:tr>
              <a:tr h="1358723">
                <a:tc>
                  <a:txBody>
                    <a:bodyPr/>
                    <a:lstStyle/>
                    <a:p>
                      <a:r>
                        <a:rPr lang="en-US" sz="2000"/>
                        <a:t>All rules are evaluated</a:t>
                      </a:r>
                      <a:endParaRPr lang="en-US" sz="2000" b="1">
                        <a:solidFill>
                          <a:srgbClr val="FFFF00"/>
                        </a:solidFill>
                      </a:endParaRPr>
                    </a:p>
                  </a:txBody>
                  <a:tcPr marL="103165" marR="103165" marT="51583" marB="51583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Evaluated from smallest rule number. Evaluation stopped when condition is matched</a:t>
                      </a:r>
                      <a:endParaRPr lang="en-US" sz="2000" b="1">
                        <a:solidFill>
                          <a:srgbClr val="FFFF00"/>
                        </a:solidFill>
                      </a:endParaRPr>
                    </a:p>
                  </a:txBody>
                  <a:tcPr marL="103165" marR="103165" marT="51583" marB="51583"/>
                </a:tc>
                <a:extLst>
                  <a:ext uri="{0D108BD9-81ED-4DB2-BD59-A6C34878D82A}">
                    <a16:rowId xmlns:a16="http://schemas.microsoft.com/office/drawing/2014/main" val="1484108612"/>
                  </a:ext>
                </a:extLst>
              </a:tr>
              <a:tr h="747611">
                <a:tc>
                  <a:txBody>
                    <a:bodyPr/>
                    <a:lstStyle/>
                    <a:p>
                      <a:r>
                        <a:rPr lang="en-US" sz="2000"/>
                        <a:t>Permissive (Only Allow rules)</a:t>
                      </a:r>
                      <a:endParaRPr lang="en-US" sz="2000" b="1">
                        <a:solidFill>
                          <a:srgbClr val="FFFF00"/>
                        </a:solidFill>
                      </a:endParaRPr>
                    </a:p>
                  </a:txBody>
                  <a:tcPr marL="103165" marR="103165" marT="51583" marB="51583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Allow and Deny rules</a:t>
                      </a:r>
                      <a:endParaRPr lang="en-US" sz="2000" b="1">
                        <a:solidFill>
                          <a:srgbClr val="FFFF00"/>
                        </a:solidFill>
                      </a:endParaRPr>
                    </a:p>
                  </a:txBody>
                  <a:tcPr marL="103165" marR="103165" marT="51583" marB="51583"/>
                </a:tc>
                <a:extLst>
                  <a:ext uri="{0D108BD9-81ED-4DB2-BD59-A6C34878D82A}">
                    <a16:rowId xmlns:a16="http://schemas.microsoft.com/office/drawing/2014/main" val="1696291946"/>
                  </a:ext>
                </a:extLst>
              </a:tr>
              <a:tr h="1053167">
                <a:tc>
                  <a:txBody>
                    <a:bodyPr/>
                    <a:lstStyle/>
                    <a:p>
                      <a:r>
                        <a:rPr lang="en-US" sz="2000"/>
                        <a:t>More than one security group can be attached to an instance</a:t>
                      </a:r>
                      <a:endParaRPr lang="en-US" sz="2000" b="1">
                        <a:solidFill>
                          <a:srgbClr val="FFFF00"/>
                        </a:solidFill>
                      </a:endParaRPr>
                    </a:p>
                  </a:txBody>
                  <a:tcPr marL="103165" marR="103165" marT="51583" marB="51583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Only one NACL per subnet</a:t>
                      </a:r>
                      <a:endParaRPr lang="en-US" sz="2000" b="1">
                        <a:solidFill>
                          <a:srgbClr val="FFFF00"/>
                        </a:solidFill>
                      </a:endParaRPr>
                    </a:p>
                  </a:txBody>
                  <a:tcPr marL="103165" marR="103165" marT="51583" marB="51583"/>
                </a:tc>
                <a:extLst>
                  <a:ext uri="{0D108BD9-81ED-4DB2-BD59-A6C34878D82A}">
                    <a16:rowId xmlns:a16="http://schemas.microsoft.com/office/drawing/2014/main" val="2484823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225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452219-785E-4657-C5F4-A53FEF2EB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0326" y="1679216"/>
            <a:ext cx="4786877" cy="151831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6" name="Picture Placeholder 5" descr="A person and person looking at a computer screen">
            <a:extLst>
              <a:ext uri="{FF2B5EF4-FFF2-40B4-BE49-F238E27FC236}">
                <a16:creationId xmlns:a16="http://schemas.microsoft.com/office/drawing/2014/main" id="{AA35CD3A-9896-7953-C82D-AAE87F6124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27" r="127"/>
          <a:stretch/>
        </p:blipFill>
        <p:spPr>
          <a:xfrm>
            <a:off x="-29499" y="-2236"/>
            <a:ext cx="6814124" cy="6871095"/>
          </a:xfr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A8DFC8D-4AE6-170E-C27A-DA97EBD7D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59704" y="0"/>
            <a:ext cx="2928883" cy="6871447"/>
            <a:chOff x="4059704" y="0"/>
            <a:chExt cx="2928883" cy="687144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F966C9E-A9A2-BF8C-EDCB-B7F6AE51C425}"/>
                </a:ext>
              </a:extLst>
            </p:cNvPr>
            <p:cNvSpPr/>
            <p:nvPr/>
          </p:nvSpPr>
          <p:spPr>
            <a:xfrm rot="10800000">
              <a:off x="4443586" y="50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33BC35A-F255-48AA-48B8-D6561A6FAB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9704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948513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11534312">
      <a:dk1>
        <a:srgbClr val="000000"/>
      </a:dk1>
      <a:lt1>
        <a:srgbClr val="FFFFFF"/>
      </a:lt1>
      <a:dk2>
        <a:srgbClr val="D87A1A"/>
      </a:dk2>
      <a:lt2>
        <a:srgbClr val="E7E6E6"/>
      </a:lt2>
      <a:accent1>
        <a:srgbClr val="FFBA00"/>
      </a:accent1>
      <a:accent2>
        <a:srgbClr val="7229D2"/>
      </a:accent2>
      <a:accent3>
        <a:srgbClr val="C62FE1"/>
      </a:accent3>
      <a:accent4>
        <a:srgbClr val="CF1DA0"/>
      </a:accent4>
      <a:accent5>
        <a:srgbClr val="E12F68"/>
      </a:accent5>
      <a:accent6>
        <a:srgbClr val="CF2E1D"/>
      </a:accent6>
      <a:hlink>
        <a:srgbClr val="87882D"/>
      </a:hlink>
      <a:folHlink>
        <a:srgbClr val="7F7F7F"/>
      </a:folHlink>
    </a:clrScheme>
    <a:fontScheme name="Custom 62">
      <a:majorFont>
        <a:latin typeface="Book Antiqua"/>
        <a:ea typeface=""/>
        <a:cs typeface=""/>
      </a:majorFont>
      <a:minorFont>
        <a:latin typeface="Century Gothic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11534312_Win32_SL_V3" id="{997564FD-A068-4008-83B6-070AA4A47434}" vid="{E6A5A359-31DF-46AC-82A0-260451C80A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CD227D-A683-415D-A610-20912E1CEA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E11EC4-AF13-4A6E-A5E0-5A264B291FD2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E5DFD21-F030-4913-A53B-53AB3DF1C0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corporate teach a course slides</Template>
  <TotalTime>150</TotalTime>
  <Words>388</Words>
  <Application>Microsoft Office PowerPoint</Application>
  <PresentationFormat>Widescreen</PresentationFormat>
  <Paragraphs>138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Book Antiqua</vt:lpstr>
      <vt:lpstr>Calibri</vt:lpstr>
      <vt:lpstr>Century Gothic</vt:lpstr>
      <vt:lpstr>Courier New</vt:lpstr>
      <vt:lpstr>Garamond</vt:lpstr>
      <vt:lpstr>Rockwell</vt:lpstr>
      <vt:lpstr>Custom</vt:lpstr>
      <vt:lpstr>NACL</vt:lpstr>
      <vt:lpstr>Network Access Control List</vt:lpstr>
      <vt:lpstr>Network ACL</vt:lpstr>
      <vt:lpstr>Custom NACL</vt:lpstr>
      <vt:lpstr>NACL Rules</vt:lpstr>
      <vt:lpstr>NACL Inbound Rules</vt:lpstr>
      <vt:lpstr>NACL Outbound Rules</vt:lpstr>
      <vt:lpstr>NACL vs Security Groups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 CloudSiksha</dc:creator>
  <cp:lastModifiedBy>Suresh CloudSiksha</cp:lastModifiedBy>
  <cp:revision>5</cp:revision>
  <dcterms:created xsi:type="dcterms:W3CDTF">2026-02-08T06:33:58Z</dcterms:created>
  <dcterms:modified xsi:type="dcterms:W3CDTF">2026-02-08T09:21:09Z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